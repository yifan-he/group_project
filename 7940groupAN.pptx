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9"/>
  </p:notesMasterIdLst>
  <p:sldIdLst>
    <p:sldId id="256" r:id="rId2"/>
    <p:sldId id="266" r:id="rId3"/>
    <p:sldId id="265" r:id="rId4"/>
    <p:sldId id="257" r:id="rId5"/>
    <p:sldId id="269" r:id="rId6"/>
    <p:sldId id="270" r:id="rId7"/>
    <p:sldId id="271" r:id="rId8"/>
    <p:sldId id="272" r:id="rId9"/>
    <p:sldId id="273" r:id="rId10"/>
    <p:sldId id="277" r:id="rId11"/>
    <p:sldId id="268" r:id="rId12"/>
    <p:sldId id="276" r:id="rId13"/>
    <p:sldId id="275" r:id="rId14"/>
    <p:sldId id="278" r:id="rId15"/>
    <p:sldId id="279" r:id="rId16"/>
    <p:sldId id="264" r:id="rId17"/>
    <p:sldId id="267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  <p:embeddedFont>
      <p:font typeface="Roboto Mono" panose="00000009000000000000" pitchFamily="49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88" y="3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87997393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f87997393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d5d0e4437b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d5d0e4437b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ffset_comp_406605.jpg"/>
          <p:cNvPicPr preferRelativeResize="0"/>
          <p:nvPr/>
        </p:nvPicPr>
        <p:blipFill rotWithShape="1">
          <a:blip r:embed="rId2">
            <a:alphaModFix amt="66000"/>
          </a:blip>
          <a:srcRect l="20992" t="2691" r="40113" b="39566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1" name="Google Shape;11;p2" descr="offset_comp_342327_edtied.jpg"/>
          <p:cNvPicPr preferRelativeResize="0"/>
          <p:nvPr/>
        </p:nvPicPr>
        <p:blipFill rotWithShape="1">
          <a:blip r:embed="rId3">
            <a:alphaModFix amt="31000"/>
          </a:blip>
          <a:srcRect l="14010" t="35834" r="43290" b="11298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  <p:sp>
        <p:nvSpPr>
          <p:cNvPr id="39" name="Google Shape;39;p3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SECTION_HEADER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1">
  <p:cSld name="TITLE_AND_BODY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6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6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2">
  <p:cSld name="TITLE_AND_BODY_2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7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  <p:sp>
        <p:nvSpPr>
          <p:cNvPr id="179" name="Google Shape;179;p13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4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  <p:sp>
        <p:nvSpPr>
          <p:cNvPr id="206" name="Google Shape;206;p14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 (g3d5d0e4437b_7_0)">
  <p:cSld name="標題投影片 (g3d5d0e4437b_7_0)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26" name="Google Shape;226;p17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227" name="Google Shape;22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9" r:id="rId10"/>
    <p:sldLayoutId id="2147483660" r:id="rId11"/>
    <p:sldLayoutId id="2147483661" r:id="rId12"/>
    <p:sldLayoutId id="214748366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8"/>
          <p:cNvPicPr preferRelativeResize="0"/>
          <p:nvPr/>
        </p:nvPicPr>
        <p:blipFill rotWithShape="1">
          <a:blip r:embed="rId4">
            <a:alphaModFix/>
          </a:blip>
          <a:srcRect r="62500"/>
          <a:stretch/>
        </p:blipFill>
        <p:spPr>
          <a:xfrm>
            <a:off x="-2381250" y="0"/>
            <a:ext cx="2857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/>
          <p:nvPr/>
        </p:nvSpPr>
        <p:spPr>
          <a:xfrm>
            <a:off x="2667000" y="0"/>
            <a:ext cx="190500" cy="5143500"/>
          </a:xfrm>
          <a:prstGeom prst="diagStripe">
            <a:avLst>
              <a:gd name="adj" fmla="val 50000"/>
            </a:avLst>
          </a:prstGeom>
          <a:solidFill>
            <a:srgbClr val="0145A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2857500" y="0"/>
            <a:ext cx="95400" cy="5143500"/>
          </a:xfrm>
          <a:prstGeom prst="diagStripe">
            <a:avLst>
              <a:gd name="adj" fmla="val 50000"/>
            </a:avLst>
          </a:prstGeom>
          <a:solidFill>
            <a:srgbClr val="82C7A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" name="Google Shape;235;p18"/>
          <p:cNvGrpSpPr/>
          <p:nvPr/>
        </p:nvGrpSpPr>
        <p:grpSpPr>
          <a:xfrm>
            <a:off x="3048000" y="1524000"/>
            <a:ext cx="5715000" cy="1143000"/>
            <a:chOff x="3048000" y="1524000"/>
            <a:chExt cx="5715000" cy="1143000"/>
          </a:xfrm>
        </p:grpSpPr>
        <p:sp>
          <p:nvSpPr>
            <p:cNvPr id="236" name="Google Shape;236;p18"/>
            <p:cNvSpPr/>
            <p:nvPr/>
          </p:nvSpPr>
          <p:spPr>
            <a:xfrm>
              <a:off x="3048000" y="1524000"/>
              <a:ext cx="5715000" cy="1143000"/>
            </a:xfrm>
            <a:prstGeom prst="rect">
              <a:avLst/>
            </a:prstGeom>
            <a:solidFill>
              <a:srgbClr val="0145AC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8"/>
            <p:cNvSpPr txBox="1"/>
            <p:nvPr/>
          </p:nvSpPr>
          <p:spPr>
            <a:xfrm>
              <a:off x="3048000" y="1524000"/>
              <a:ext cx="571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lvl="0"/>
              <a:r>
                <a:rPr lang="en-US" altLang="zh-HK" sz="28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University Travel Assistant</a:t>
              </a:r>
              <a:endParaRPr sz="1400" b="0" dirty="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8" name="Google Shape;238;p18"/>
          <p:cNvSpPr txBox="1"/>
          <p:nvPr/>
        </p:nvSpPr>
        <p:spPr>
          <a:xfrm>
            <a:off x="3238500" y="2857500"/>
            <a:ext cx="552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3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COMP7940 - Cloud Computing</a:t>
            </a:r>
            <a:endParaRPr sz="13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zh-HK" sz="1300" b="1" dirty="0">
                <a:solidFill>
                  <a:srgbClr val="82C7A5"/>
                </a:solidFill>
                <a:latin typeface="Arial"/>
                <a:ea typeface="Arial"/>
                <a:cs typeface="Arial"/>
                <a:sym typeface="Arial"/>
              </a:rPr>
              <a:t>Team Members:</a:t>
            </a:r>
            <a:endParaRPr sz="1300" b="1" dirty="0">
              <a:solidFill>
                <a:srgbClr val="82C7A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zh-HK" sz="13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 Yifan, G</a:t>
            </a:r>
            <a:r>
              <a:rPr lang="en-US" altLang="zh-HK" sz="1300" dirty="0" err="1">
                <a:solidFill>
                  <a:srgbClr val="FFFFFF"/>
                </a:solidFill>
              </a:rPr>
              <a:t>ou</a:t>
            </a:r>
            <a:r>
              <a:rPr lang="zh-HK" sz="13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Jiajie, W</a:t>
            </a:r>
            <a:r>
              <a:rPr lang="en-US" altLang="zh-HK" sz="1300" dirty="0">
                <a:solidFill>
                  <a:srgbClr val="FFFFFF"/>
                </a:solidFill>
              </a:rPr>
              <a:t>ang</a:t>
            </a:r>
            <a:r>
              <a:rPr lang="zh-HK" sz="13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Huayu</a:t>
            </a:r>
            <a:endParaRPr sz="13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CEC3FE5-EC24-1EFA-3991-14303D21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Content</a:t>
            </a:r>
            <a:endParaRPr lang="zh-CN" altLang="en-US" b="1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0C07A2-8D80-9510-F68E-6D71D1ABD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i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Project Overview &amp; Core Value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i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Core Features Showcase</a:t>
            </a:r>
            <a:endParaRPr lang="en-US" altLang="zh-CN" sz="2400" i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i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System Architecture &amp; Design</a:t>
            </a:r>
            <a:endParaRPr lang="en-US" altLang="zh-CN" sz="2400" i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i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DevOps &amp; Automation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i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Summary</a:t>
            </a:r>
            <a:endParaRPr lang="en-US" altLang="zh-CN" sz="2400" i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altLang="zh-CN"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altLang="zh-CN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198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C07747E-82BB-60A4-781D-8812C75A0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Montserrat" panose="00000500000000000000" pitchFamily="2" charset="0"/>
              </a:rPr>
              <a:t>01. </a:t>
            </a:r>
            <a:r>
              <a:rPr lang="en-US" altLang="zh-CN" dirty="0">
                <a:solidFill>
                  <a:srgbClr val="FFFFFF"/>
                </a:solidFill>
                <a:latin typeface="Montserrat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Project Overview &amp; Core Value</a:t>
            </a:r>
            <a:br>
              <a:rPr lang="en-US" altLang="zh-CN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680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65FE4B07-BFB7-5B85-A62E-F5FDB01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>
                <a:latin typeface="Arial"/>
                <a:ea typeface="Arial"/>
                <a:cs typeface="Arial"/>
                <a:sym typeface="Arial"/>
              </a:rPr>
              <a:t>Project Overview &amp; Objectives</a:t>
            </a:r>
            <a:br>
              <a:rPr lang="en-US" altLang="zh-CN" dirty="0">
                <a:latin typeface="Arial"/>
                <a:ea typeface="Arial"/>
                <a:cs typeface="Arial"/>
                <a:sym typeface="Arial"/>
              </a:rPr>
            </a:br>
            <a:endParaRPr lang="zh-CN" altLang="en-US" dirty="0"/>
          </a:p>
        </p:txBody>
      </p:sp>
      <p:sp>
        <p:nvSpPr>
          <p:cNvPr id="243" name="Google Shape;243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zh-HK" sz="1500" b="1" dirty="0">
                <a:latin typeface="Arial"/>
                <a:ea typeface="Arial"/>
                <a:cs typeface="Arial"/>
                <a:sym typeface="Arial"/>
              </a:rPr>
              <a:t>Vision</a:t>
            </a: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: Transforming a local </a:t>
            </a:r>
            <a:r>
              <a:rPr lang="en-US" altLang="zh-CN" sz="1500" dirty="0">
                <a:latin typeface="Arial"/>
                <a:ea typeface="Arial"/>
                <a:cs typeface="Arial"/>
                <a:sym typeface="Arial"/>
              </a:rPr>
              <a:t>telegram bot </a:t>
            </a: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prototype into a production-grade, highly available </a:t>
            </a:r>
            <a:r>
              <a:rPr lang="en-US" altLang="zh-HK" sz="1500" dirty="0">
                <a:latin typeface="Arial"/>
                <a:ea typeface="Arial"/>
                <a:cs typeface="Arial"/>
                <a:sym typeface="Arial"/>
              </a:rPr>
              <a:t>travel </a:t>
            </a: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assistant.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zh-HK" sz="1500" b="1" dirty="0">
                <a:latin typeface="Arial"/>
                <a:ea typeface="Arial"/>
                <a:cs typeface="Arial"/>
                <a:sym typeface="Arial"/>
              </a:rPr>
              <a:t>Core Value</a:t>
            </a: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: Providing intelligent, </a:t>
            </a:r>
            <a:r>
              <a:rPr lang="en-US" altLang="zh-HK" sz="1500" dirty="0">
                <a:latin typeface="Arial"/>
                <a:ea typeface="Arial"/>
                <a:cs typeface="Arial"/>
                <a:sym typeface="Arial"/>
              </a:rPr>
              <a:t>traveling-advice </a:t>
            </a: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services for HKBU students.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zh-HK" sz="1500" b="1" dirty="0">
                <a:latin typeface="Arial"/>
                <a:ea typeface="Arial"/>
                <a:cs typeface="Arial"/>
                <a:sym typeface="Arial"/>
              </a:rPr>
              <a:t>Key Challenges Addressed</a:t>
            </a: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Scalability via containerization.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High Availability through load balancing.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Observability using structured logging and monitoring.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42705-CEEA-024A-EA48-9C81FD28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Montserrat" panose="00000500000000000000" pitchFamily="2" charset="0"/>
              </a:rPr>
              <a:t>02. Core Feature Showcase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9464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FE3944-BEEC-AAC6-DE81-570C66235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70" y="1924852"/>
            <a:ext cx="3707547" cy="92456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the /start command is a user-friendly interactive menu which lists all available shortcut commands.</a:t>
            </a:r>
            <a:br>
              <a:rPr lang="en-US" altLang="zh-CN" sz="1200" dirty="0"/>
            </a:br>
            <a:br>
              <a:rPr lang="en-US" altLang="zh-CN" sz="1200" dirty="0"/>
            </a:br>
            <a:endParaRPr lang="zh-CN" altLang="en-US" sz="12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88528EF-CBE2-4F26-FFF2-105CCAF0DD6B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297500" y="459490"/>
            <a:ext cx="3837918" cy="510900"/>
          </a:xfrm>
        </p:spPr>
        <p:txBody>
          <a:bodyPr/>
          <a:lstStyle/>
          <a:p>
            <a:r>
              <a:rPr lang="en-US" altLang="zh-CN" sz="2000" b="1" dirty="0"/>
              <a:t>/start</a:t>
            </a:r>
            <a:endParaRPr lang="zh-CN" altLang="en-US" sz="2000" b="1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8E85B7C8-D66D-62CD-E0BE-CA27725E25EB}"/>
              </a:ext>
            </a:extLst>
          </p:cNvPr>
          <p:cNvPicPr>
            <a:picLocks/>
          </p:cNvPicPr>
          <p:nvPr/>
        </p:nvPicPr>
        <p:blipFill>
          <a:blip r:embed="rId2"/>
          <a:srcRect l="1374" r="1374"/>
          <a:stretch>
            <a:fillRect/>
          </a:stretch>
        </p:blipFill>
        <p:spPr>
          <a:xfrm>
            <a:off x="4985630" y="155923"/>
            <a:ext cx="3797300" cy="4953000"/>
          </a:xfrm>
          <a:prstGeom prst="round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3617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83CBD-D97F-3DCE-EA54-D63A0A39C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511797F-9334-9E12-EF10-6C45E367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70" y="1924852"/>
            <a:ext cx="3707547" cy="92456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the /food command curates the top 5 highest-rated restaurants based on the user’s current location.</a:t>
            </a:r>
            <a:br>
              <a:rPr lang="en-US" altLang="zh-CN" sz="1200" dirty="0"/>
            </a:br>
            <a:endParaRPr lang="zh-CN" altLang="en-US" sz="12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8B22D9E-FF0E-8301-C8DF-E4F8FE8D7EC1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297500" y="459490"/>
            <a:ext cx="3837918" cy="510900"/>
          </a:xfrm>
        </p:spPr>
        <p:txBody>
          <a:bodyPr/>
          <a:lstStyle/>
          <a:p>
            <a:r>
              <a:rPr lang="en-US" altLang="zh-CN" sz="2000" b="1" dirty="0"/>
              <a:t>/food</a:t>
            </a:r>
            <a:endParaRPr lang="zh-CN" altLang="en-US" sz="2000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9D2C728-E781-30CF-499D-2372209F58C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85" y="0"/>
            <a:ext cx="3339272" cy="51435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015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AE06-C511-3A4A-A083-3AC6A8908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989585B-F73C-EC39-F8A8-D35B301A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70" y="1924852"/>
            <a:ext cx="3707547" cy="92456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the /path provides intelligent route planning between the destination and the current location. </a:t>
            </a:r>
            <a:br>
              <a:rPr lang="en-US" altLang="zh-CN" sz="1200" dirty="0"/>
            </a:br>
            <a:endParaRPr lang="zh-CN" altLang="en-US" sz="12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9888C98-5703-D829-043F-D623CD2411E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297500" y="459490"/>
            <a:ext cx="3837918" cy="510900"/>
          </a:xfrm>
        </p:spPr>
        <p:txBody>
          <a:bodyPr/>
          <a:lstStyle/>
          <a:p>
            <a:r>
              <a:rPr lang="en-US" altLang="zh-CN" sz="2000" b="1" dirty="0"/>
              <a:t>/path</a:t>
            </a:r>
            <a:endParaRPr lang="zh-CN" altLang="en-US" sz="2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4D47E7-8DD9-F254-A1C4-E667FA7045E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85" y="0"/>
            <a:ext cx="3377372" cy="51435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0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BBAA2-5EED-4ECF-F3A3-CF8E17CFA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D1DE67E-3C68-1023-069E-79A24C91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70" y="1924852"/>
            <a:ext cx="3707547" cy="92456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/status: Displays the bot’s real-time operational status.</a:t>
            </a:r>
            <a:br>
              <a:rPr lang="en-US" altLang="zh-CN" sz="1200" dirty="0"/>
            </a:br>
            <a:endParaRPr lang="zh-CN" altLang="en-US" sz="12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94FF68B-3BA5-ACC7-8865-C6983250D627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297500" y="459490"/>
            <a:ext cx="3837918" cy="510900"/>
          </a:xfrm>
        </p:spPr>
        <p:txBody>
          <a:bodyPr/>
          <a:lstStyle/>
          <a:p>
            <a:r>
              <a:rPr lang="en-US" altLang="zh-CN" sz="2000" b="1" dirty="0"/>
              <a:t>/status &amp; /cost</a:t>
            </a:r>
            <a:endParaRPr lang="zh-CN" altLang="en-US" sz="20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2FB1B5-2216-631D-64E5-FEADF4C6379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85" y="0"/>
            <a:ext cx="3301172" cy="5143500"/>
          </a:xfrm>
          <a:prstGeom prst="roundRect">
            <a:avLst/>
          </a:prstGeom>
        </p:spPr>
      </p:pic>
      <p:sp>
        <p:nvSpPr>
          <p:cNvPr id="9" name="标题 2">
            <a:extLst>
              <a:ext uri="{FF2B5EF4-FFF2-40B4-BE49-F238E27FC236}">
                <a16:creationId xmlns:a16="http://schemas.microsoft.com/office/drawing/2014/main" id="{BD4DE243-98C3-701A-32A6-6EC71C35C938}"/>
              </a:ext>
            </a:extLst>
          </p:cNvPr>
          <p:cNvSpPr txBox="1">
            <a:spLocks/>
          </p:cNvSpPr>
          <p:nvPr/>
        </p:nvSpPr>
        <p:spPr>
          <a:xfrm>
            <a:off x="361070" y="2387135"/>
            <a:ext cx="3707547" cy="924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/cost: Provides a detailed estimate of LLM token usage and associated costs. </a:t>
            </a:r>
          </a:p>
          <a:p>
            <a:endParaRPr lang="en-US" altLang="zh-CN" sz="1200" dirty="0"/>
          </a:p>
          <a:p>
            <a:r>
              <a:rPr lang="en-US" altLang="zh-CN" sz="1200" dirty="0"/>
              <a:t>Note: The last two commands are for administrators only.</a:t>
            </a:r>
          </a:p>
          <a:p>
            <a:endParaRPr lang="en-US" altLang="zh-CN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E9CDD51-7261-4D81-38A9-F180961EB6C4}"/>
              </a:ext>
            </a:extLst>
          </p:cNvPr>
          <p:cNvPicPr>
            <a:picLocks/>
          </p:cNvPicPr>
          <p:nvPr/>
        </p:nvPicPr>
        <p:blipFill>
          <a:blip r:embed="rId3"/>
          <a:srcRect r="25401" b="-1469"/>
          <a:stretch>
            <a:fillRect/>
          </a:stretch>
        </p:blipFill>
        <p:spPr>
          <a:xfrm>
            <a:off x="361070" y="3684074"/>
            <a:ext cx="3456214" cy="75185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78718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321EB-E9E7-54A3-6052-23626458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18856E4-94E9-14F1-48B7-4712AFE32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70" y="1924852"/>
            <a:ext cx="3707547" cy="92456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You can also chat directly with our chatbot for a personalized travel plan.</a:t>
            </a:r>
            <a:br>
              <a:rPr lang="en-US" altLang="zh-CN" sz="1200" dirty="0"/>
            </a:br>
            <a:endParaRPr lang="zh-CN" altLang="en-US" sz="12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85A9FB6-CFF2-F564-CF8E-4503763D6EC7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297500" y="459490"/>
            <a:ext cx="3837918" cy="510900"/>
          </a:xfrm>
        </p:spPr>
        <p:txBody>
          <a:bodyPr/>
          <a:lstStyle/>
          <a:p>
            <a:r>
              <a:rPr lang="en-US" altLang="zh-CN" sz="2000" b="1" dirty="0"/>
              <a:t>Chat directly</a:t>
            </a:r>
            <a:endParaRPr lang="zh-CN" altLang="en-US" sz="2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833929-14D9-158F-0E17-887816BC5AC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80214" y="76200"/>
            <a:ext cx="3898348" cy="49911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03266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60D7F-0324-FB64-1F2C-05E0F80E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DCB3C07-3A28-824F-AFD0-A5F1C7FAD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Montserrat" panose="00000500000000000000" pitchFamily="2" charset="0"/>
              </a:rPr>
              <a:t>03. System Architecture &amp; Design</a:t>
            </a:r>
            <a:br>
              <a:rPr lang="en-US" altLang="zh-CN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4634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7D078C2-C228-F37E-E458-E56A47BC4B0E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altLang="zh-CN" sz="1600" b="1" dirty="0"/>
              <a:t>System Design Diagram</a:t>
            </a:r>
            <a:endParaRPr lang="zh-CN" altLang="en-US" sz="1600" b="1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F0CCE2-FD68-5580-D854-9B47D06A7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292" y="3576289"/>
            <a:ext cx="7902307" cy="1420254"/>
          </a:xfrm>
        </p:spPr>
        <p:txBody>
          <a:bodyPr/>
          <a:lstStyle/>
          <a:p>
            <a:pPr lvl="0" indent="-323850"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altLang="zh-HK" sz="1000" b="1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Stateless Design</a:t>
            </a: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: All session data is externalized to Redis, allowing any bot instance to handle any request.</a:t>
            </a:r>
          </a:p>
          <a:p>
            <a:pPr lvl="1" indent="-323850">
              <a:spcBef>
                <a:spcPts val="0"/>
              </a:spcBef>
              <a:buClr>
                <a:schemeClr val="lt1"/>
              </a:buClr>
              <a:buSzPts val="1500"/>
              <a:buFont typeface="Arial"/>
              <a:buChar char="○"/>
            </a:pP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Hot Data (Redis): Real-time chat logs and metrics for the /status command.</a:t>
            </a:r>
          </a:p>
          <a:p>
            <a:pPr lvl="1" indent="-323850">
              <a:spcBef>
                <a:spcPts val="0"/>
              </a:spcBef>
              <a:buClr>
                <a:schemeClr val="lt1"/>
              </a:buClr>
              <a:buSzPts val="1500"/>
              <a:buFont typeface="Arial"/>
              <a:buChar char="○"/>
            </a:pP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Cold Data (EC2): JSONL archiving with a 7-day auto-rotation policy.</a:t>
            </a:r>
            <a:endParaRPr lang="en-US" altLang="zh-CN" sz="1000" dirty="0">
              <a:solidFill>
                <a:schemeClr val="tx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  <a:p>
            <a:pPr lvl="0" indent="-323850"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altLang="zh-HK" sz="1000" b="1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Webhook Architecture</a:t>
            </a: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:</a:t>
            </a:r>
            <a:endParaRPr lang="en-US" altLang="zh-CN" sz="1000" dirty="0">
              <a:solidFill>
                <a:schemeClr val="tx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  <a:p>
            <a:pPr lvl="1" indent="-323850">
              <a:spcBef>
                <a:spcPts val="0"/>
              </a:spcBef>
              <a:buClr>
                <a:schemeClr val="lt1"/>
              </a:buClr>
              <a:buSzPts val="1500"/>
              <a:buFont typeface="Arial"/>
              <a:buChar char="○"/>
            </a:pP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Efficient event-driven communication with Telegram API.</a:t>
            </a:r>
            <a:endParaRPr lang="en-US" altLang="zh-CN" sz="1000" dirty="0">
              <a:solidFill>
                <a:schemeClr val="tx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  <a:p>
            <a:pPr lvl="1" indent="-323850">
              <a:spcBef>
                <a:spcPts val="0"/>
              </a:spcBef>
              <a:buClr>
                <a:schemeClr val="lt1"/>
              </a:buClr>
              <a:buSzPts val="1500"/>
              <a:buFont typeface="Arial"/>
              <a:buChar char="○"/>
            </a:pP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Uses Nginx as a Reverse Proxy/Load Balancer.</a:t>
            </a:r>
            <a:endParaRPr lang="en-US" altLang="zh-CN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lvl="0" indent="-323850">
              <a:buClr>
                <a:schemeClr val="lt1"/>
              </a:buClr>
              <a:buSzPts val="1500"/>
              <a:buFont typeface="Arial"/>
              <a:buChar char="●"/>
            </a:pPr>
            <a:r>
              <a:rPr lang="en-US" altLang="zh-HK" sz="1000" b="1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Redundancy &amp; L</a:t>
            </a:r>
            <a:r>
              <a:rPr lang="en-US" altLang="zh-CN" sz="1000" b="1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oad Balance</a:t>
            </a: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: Dual-instance deployment (</a:t>
            </a: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Roboto Mono"/>
                <a:cs typeface="Roboto Mono"/>
                <a:sym typeface="Roboto Mono"/>
              </a:rPr>
              <a:t>bot-a</a:t>
            </a: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and </a:t>
            </a: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Roboto Mono"/>
                <a:cs typeface="Roboto Mono"/>
                <a:sym typeface="Roboto Mono"/>
              </a:rPr>
              <a:t>bot-b</a:t>
            </a:r>
            <a:r>
              <a:rPr lang="en-US" altLang="zh-HK" sz="1000" dirty="0">
                <a:solidFill>
                  <a:schemeClr val="tx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) to eliminate single points of failure.</a:t>
            </a:r>
            <a:endParaRPr lang="en-US" altLang="zh-CN" sz="1000" dirty="0">
              <a:solidFill>
                <a:schemeClr val="tx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  <a:p>
            <a:endParaRPr lang="zh-CN" altLang="en-U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99307E4-6EED-2E5F-E4A1-F69A02547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500" y="857042"/>
            <a:ext cx="6959315" cy="25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781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4B229-C819-3E67-78CD-FAC1B1AB4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77E1226-4492-7388-6FB8-6C5D7684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Montserrat" panose="00000500000000000000" pitchFamily="2" charset="0"/>
              </a:rPr>
              <a:t>04. DevOps &amp; Automation</a:t>
            </a:r>
            <a:br>
              <a:rPr lang="en-US" altLang="zh-CN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652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1956-7A37-7728-BD5E-CB81641E4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C315A91-08FB-604F-A7AD-5DA844F9725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altLang="zh-CN" sz="1600" b="1" dirty="0">
                <a:latin typeface="Montserrat" panose="00000500000000000000" pitchFamily="2" charset="0"/>
              </a:rPr>
              <a:t>DevOps Workflow</a:t>
            </a:r>
            <a:endParaRPr lang="zh-CN" altLang="en-US" sz="1600" b="1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72068C-3B0F-8F8E-9B07-4A27D270A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9875" y="3647046"/>
            <a:ext cx="6726650" cy="1420254"/>
          </a:xfrm>
        </p:spPr>
        <p:txBody>
          <a:bodyPr/>
          <a:lstStyle/>
          <a:p>
            <a:pPr marL="171450" indent="-171450">
              <a:buClr>
                <a:schemeClr val="bg1"/>
              </a:buClr>
            </a:pPr>
            <a:r>
              <a:rPr lang="en-US" altLang="zh-HK" b="1" dirty="0">
                <a:latin typeface="Arial"/>
                <a:ea typeface="Arial"/>
                <a:cs typeface="Arial"/>
                <a:sym typeface="Arial"/>
              </a:rPr>
              <a:t>CI/CD Pipeline: </a:t>
            </a:r>
            <a:r>
              <a:rPr lang="en-US" altLang="zh-HK" dirty="0">
                <a:latin typeface="Arial"/>
                <a:ea typeface="Arial"/>
                <a:cs typeface="Arial"/>
                <a:sym typeface="Arial"/>
              </a:rPr>
              <a:t>GitHub Actions automates the entire lifecycle (Validation -&gt; Build -&gt; Push -&gt; Deploy).</a:t>
            </a:r>
          </a:p>
          <a:p>
            <a:pPr marL="171450" indent="-171450">
              <a:buClr>
                <a:schemeClr val="bg1"/>
              </a:buClr>
            </a:pPr>
            <a:endParaRPr lang="en-US" altLang="zh-HK" b="1" dirty="0">
              <a:latin typeface="Arial"/>
              <a:ea typeface="Arial"/>
              <a:cs typeface="Arial"/>
              <a:sym typeface="Arial"/>
            </a:endParaRPr>
          </a:p>
          <a:p>
            <a:pPr marL="171450" indent="-171450">
              <a:buClr>
                <a:schemeClr val="bg1"/>
              </a:buClr>
            </a:pPr>
            <a:r>
              <a:rPr lang="en-US" altLang="zh-HK" b="1" dirty="0">
                <a:latin typeface="Arial"/>
                <a:ea typeface="Arial"/>
                <a:cs typeface="Arial"/>
                <a:sym typeface="Arial"/>
              </a:rPr>
              <a:t>Secrets Management: </a:t>
            </a:r>
            <a:r>
              <a:rPr lang="en-US" altLang="zh-HK" dirty="0">
                <a:latin typeface="Arial"/>
                <a:ea typeface="Arial"/>
                <a:cs typeface="Arial"/>
                <a:sym typeface="Arial"/>
              </a:rPr>
              <a:t>GitHub Secrets used for secure storage of API Keys and server credentials.</a:t>
            </a:r>
          </a:p>
          <a:p>
            <a:pPr marL="171450" indent="-171450">
              <a:buClr>
                <a:schemeClr val="bg1"/>
              </a:buClr>
            </a:pPr>
            <a:endParaRPr lang="en-US" altLang="zh-HK" b="1" dirty="0">
              <a:latin typeface="Arial"/>
              <a:ea typeface="Arial"/>
              <a:cs typeface="Arial"/>
              <a:sym typeface="Arial"/>
            </a:endParaRPr>
          </a:p>
          <a:p>
            <a:pPr marL="171450" indent="-171450">
              <a:buClr>
                <a:schemeClr val="bg1"/>
              </a:buClr>
            </a:pPr>
            <a:endParaRPr lang="en-US" altLang="zh-HK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22AF1AD-8C3D-3C9E-D0FC-264CDD5E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200" y="76200"/>
            <a:ext cx="4014911" cy="339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01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72A05-8269-2B29-1C65-4E0B193CE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97567-49A5-318B-BF37-CCF487B2A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Montserrat" panose="00000500000000000000" pitchFamily="2" charset="0"/>
              </a:rPr>
              <a:t>05. Summary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216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</a:pPr>
            <a:r>
              <a:rPr lang="en-US" altLang="zh-HK" dirty="0">
                <a:latin typeface="Montserrat" panose="00000500000000000000" pitchFamily="2" charset="0"/>
                <a:ea typeface="Arial"/>
                <a:cs typeface="Arial"/>
                <a:sym typeface="Arial"/>
              </a:rPr>
              <a:t>Conclusions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1297500" y="17436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</a:endParaRPr>
          </a:p>
        </p:txBody>
      </p:sp>
      <p:sp>
        <p:nvSpPr>
          <p:cNvPr id="348" name="Google Shape;348;p26"/>
          <p:cNvSpPr txBox="1">
            <a:spLocks noGrp="1"/>
          </p:cNvSpPr>
          <p:nvPr>
            <p:ph type="body" idx="1"/>
          </p:nvPr>
        </p:nvSpPr>
        <p:spPr>
          <a:xfrm>
            <a:off x="2030400" y="1743675"/>
            <a:ext cx="58773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500" b="1" dirty="0">
                <a:latin typeface="Arial"/>
                <a:ea typeface="Arial"/>
                <a:cs typeface="Arial"/>
                <a:sym typeface="Arial"/>
              </a:rPr>
              <a:t>Success</a:t>
            </a: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: Delivered a robust, secure, and cost-effective cloud solution.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349" name="Google Shape;349;p26"/>
          <p:cNvSpPr txBox="1"/>
          <p:nvPr/>
        </p:nvSpPr>
        <p:spPr>
          <a:xfrm>
            <a:off x="1297500" y="2658481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</a:endParaRPr>
          </a:p>
        </p:txBody>
      </p:sp>
      <p:sp>
        <p:nvSpPr>
          <p:cNvPr id="350" name="Google Shape;350;p26"/>
          <p:cNvSpPr txBox="1">
            <a:spLocks noGrp="1"/>
          </p:cNvSpPr>
          <p:nvPr>
            <p:ph type="body" idx="1"/>
          </p:nvPr>
        </p:nvSpPr>
        <p:spPr>
          <a:xfrm>
            <a:off x="2030400" y="2747451"/>
            <a:ext cx="58773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 b="1" dirty="0">
                <a:latin typeface="Arial"/>
                <a:ea typeface="Arial"/>
                <a:cs typeface="Arial"/>
                <a:sym typeface="Arial"/>
              </a:rPr>
              <a:t>Learnings</a:t>
            </a:r>
            <a:r>
              <a:rPr lang="zh-HK" sz="1600" dirty="0">
                <a:latin typeface="Arial"/>
                <a:ea typeface="Arial"/>
                <a:cs typeface="Arial"/>
                <a:sym typeface="Arial"/>
              </a:rPr>
              <a:t>: Mastery of Docker orchestration, Nginx load balancing, and automated DevOps workflows.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351" name="Google Shape;351;p26"/>
          <p:cNvSpPr txBox="1"/>
          <p:nvPr/>
        </p:nvSpPr>
        <p:spPr>
          <a:xfrm>
            <a:off x="1297500" y="3746169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352" name="Google Shape;352;p26"/>
          <p:cNvSpPr txBox="1">
            <a:spLocks noGrp="1"/>
          </p:cNvSpPr>
          <p:nvPr>
            <p:ph type="body" idx="1"/>
          </p:nvPr>
        </p:nvSpPr>
        <p:spPr>
          <a:xfrm>
            <a:off x="2030400" y="3840478"/>
            <a:ext cx="58773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500" b="1" dirty="0">
                <a:latin typeface="Arial"/>
                <a:ea typeface="Arial"/>
                <a:cs typeface="Arial"/>
                <a:sym typeface="Arial"/>
              </a:rPr>
              <a:t>Future Work</a:t>
            </a:r>
            <a:r>
              <a:rPr lang="zh-HK" sz="1500" dirty="0">
                <a:latin typeface="Arial"/>
                <a:ea typeface="Arial"/>
                <a:cs typeface="Arial"/>
                <a:sym typeface="Arial"/>
              </a:rPr>
              <a:t>: Integration of campus event scraping and real-time shuttle bus tracking.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7E378-6065-24D9-4870-820992B04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184" y="2142351"/>
            <a:ext cx="5017500" cy="1578900"/>
          </a:xfrm>
        </p:spPr>
        <p:txBody>
          <a:bodyPr/>
          <a:lstStyle/>
          <a:p>
            <a:pPr algn="ctr"/>
            <a:r>
              <a:rPr lang="en-US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5180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422</Words>
  <Application>Microsoft Office PowerPoint</Application>
  <PresentationFormat>全屏显示(16:9)</PresentationFormat>
  <Paragraphs>55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Wingdings</vt:lpstr>
      <vt:lpstr>Arial</vt:lpstr>
      <vt:lpstr>Roboto Mono</vt:lpstr>
      <vt:lpstr>Montserrat</vt:lpstr>
      <vt:lpstr>Lato</vt:lpstr>
      <vt:lpstr>Poppins</vt:lpstr>
      <vt:lpstr>Focus</vt:lpstr>
      <vt:lpstr>PowerPoint 演示文稿</vt:lpstr>
      <vt:lpstr>Content</vt:lpstr>
      <vt:lpstr>01. Project Overview &amp; Core Value </vt:lpstr>
      <vt:lpstr>Project Overview &amp; Objectives </vt:lpstr>
      <vt:lpstr>02. Core Feature Showcase</vt:lpstr>
      <vt:lpstr>the /start command is a user-friendly interactive menu which lists all available shortcut commands.  </vt:lpstr>
      <vt:lpstr>the /food command curates the top 5 highest-rated restaurants based on the user’s current location. </vt:lpstr>
      <vt:lpstr>the /path provides intelligent route planning between the destination and the current location.  </vt:lpstr>
      <vt:lpstr>/status: Displays the bot’s real-time operational status. </vt:lpstr>
      <vt:lpstr>You can also chat directly with our chatbot for a personalized travel plan. </vt:lpstr>
      <vt:lpstr>03. System Architecture &amp; Design </vt:lpstr>
      <vt:lpstr>System Design Diagram</vt:lpstr>
      <vt:lpstr>04. DevOps &amp; Automation </vt:lpstr>
      <vt:lpstr>DevOps Workflow</vt:lpstr>
      <vt:lpstr>05. Summary</vt:lpstr>
      <vt:lpstr>Conclusions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Yifan HE</cp:lastModifiedBy>
  <cp:revision>9</cp:revision>
  <dcterms:modified xsi:type="dcterms:W3CDTF">2026-04-14T12:22:28Z</dcterms:modified>
</cp:coreProperties>
</file>